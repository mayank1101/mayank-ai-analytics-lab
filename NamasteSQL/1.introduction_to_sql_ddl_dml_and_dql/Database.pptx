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192716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2821750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2270665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B8EF0E-3F15-457D-BD16-0789EDA56D16}" type="datetimeFigureOut">
              <a:rPr lang="en-IN" smtClean="0"/>
              <a:t>05-11-2024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819596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B8EF0E-3F15-457D-BD16-0789EDA56D16}" type="datetimeFigureOut">
              <a:rPr lang="en-IN" smtClean="0"/>
              <a:t>05-11-2024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3555407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957636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471567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1930796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B8EF0E-3F15-457D-BD16-0789EDA56D16}" type="datetimeFigureOut">
              <a:rPr lang="en-IN" smtClean="0"/>
              <a:t>05-11-2024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673669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B8EF0E-3F15-457D-BD16-0789EDA56D16}" type="datetimeFigureOut">
              <a:rPr lang="en-IN" smtClean="0"/>
              <a:t>05-11-2024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355767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1124411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51767D-DC7B-4928-B118-43E98F57B088}"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6197815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3437187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B8EF0E-3F15-457D-BD16-0789EDA56D16}" type="datetimeFigureOut">
              <a:rPr lang="en-IN" smtClean="0"/>
              <a:t>05-11-2024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301178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B8EF0E-3F15-457D-BD16-0789EDA56D16}" type="datetimeFigureOut">
              <a:rPr lang="en-IN" smtClean="0"/>
              <a:t>05-11-2024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8782401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347255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B8EF0E-3F15-457D-BD16-0789EDA56D16}"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51767D-DC7B-4928-B118-43E98F57B088}" type="slidenum">
              <a:rPr lang="en-IN" smtClean="0"/>
              <a:t>‹#›</a:t>
            </a:fld>
            <a:endParaRPr lang="en-IN"/>
          </a:p>
        </p:txBody>
      </p:sp>
    </p:spTree>
    <p:extLst>
      <p:ext uri="{BB962C8B-B14F-4D97-AF65-F5344CB8AC3E}">
        <p14:creationId xmlns:p14="http://schemas.microsoft.com/office/powerpoint/2010/main" val="4066162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AB8EF0E-3F15-457D-BD16-0789EDA56D16}" type="datetimeFigureOut">
              <a:rPr lang="en-IN" smtClean="0"/>
              <a:t>05-11-2024</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E51767D-DC7B-4928-B118-43E98F57B088}" type="slidenum">
              <a:rPr lang="en-IN" smtClean="0"/>
              <a:t>‹#›</a:t>
            </a:fld>
            <a:endParaRPr lang="en-IN"/>
          </a:p>
        </p:txBody>
      </p:sp>
    </p:spTree>
    <p:extLst>
      <p:ext uri="{BB962C8B-B14F-4D97-AF65-F5344CB8AC3E}">
        <p14:creationId xmlns:p14="http://schemas.microsoft.com/office/powerpoint/2010/main" val="6153913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E01DA-E038-60B0-A36F-90715BA8F3EC}"/>
              </a:ext>
            </a:extLst>
          </p:cNvPr>
          <p:cNvSpPr>
            <a:spLocks noGrp="1"/>
          </p:cNvSpPr>
          <p:nvPr>
            <p:ph type="ctrTitle"/>
          </p:nvPr>
        </p:nvSpPr>
        <p:spPr>
          <a:xfrm>
            <a:off x="1524000" y="1122363"/>
            <a:ext cx="9144000" cy="1655762"/>
          </a:xfrm>
        </p:spPr>
        <p:txBody>
          <a:bodyPr/>
          <a:lstStyle/>
          <a:p>
            <a:r>
              <a:rPr lang="en-IN" dirty="0"/>
              <a:t>Database </a:t>
            </a:r>
          </a:p>
        </p:txBody>
      </p:sp>
      <p:sp>
        <p:nvSpPr>
          <p:cNvPr id="3" name="Subtitle 2">
            <a:extLst>
              <a:ext uri="{FF2B5EF4-FFF2-40B4-BE49-F238E27FC236}">
                <a16:creationId xmlns:a16="http://schemas.microsoft.com/office/drawing/2014/main" id="{28E7EF16-2931-51F1-4A08-0D6FF185CDB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21985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7CAEA-924B-122C-626C-6634A329D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F5A0B-0032-3A56-6DBC-2A7B7D2AF741}"/>
              </a:ext>
            </a:extLst>
          </p:cNvPr>
          <p:cNvSpPr>
            <a:spLocks noGrp="1"/>
          </p:cNvSpPr>
          <p:nvPr>
            <p:ph type="ctrTitle"/>
          </p:nvPr>
        </p:nvSpPr>
        <p:spPr>
          <a:xfrm>
            <a:off x="849086" y="326571"/>
            <a:ext cx="9818914" cy="1153886"/>
          </a:xfrm>
        </p:spPr>
        <p:txBody>
          <a:bodyPr/>
          <a:lstStyle/>
          <a:p>
            <a:r>
              <a:rPr lang="en-IN" dirty="0"/>
              <a:t>What is a Database </a:t>
            </a:r>
          </a:p>
        </p:txBody>
      </p:sp>
      <p:sp>
        <p:nvSpPr>
          <p:cNvPr id="3" name="Subtitle 2">
            <a:extLst>
              <a:ext uri="{FF2B5EF4-FFF2-40B4-BE49-F238E27FC236}">
                <a16:creationId xmlns:a16="http://schemas.microsoft.com/office/drawing/2014/main" id="{3B1692C4-0A35-521E-ED7C-45E4037862D3}"/>
              </a:ext>
            </a:extLst>
          </p:cNvPr>
          <p:cNvSpPr>
            <a:spLocks noGrp="1"/>
          </p:cNvSpPr>
          <p:nvPr>
            <p:ph type="subTitle" idx="1"/>
          </p:nvPr>
        </p:nvSpPr>
        <p:spPr>
          <a:xfrm>
            <a:off x="566057" y="1654629"/>
            <a:ext cx="9414556" cy="3984171"/>
          </a:xfrm>
        </p:spPr>
        <p:txBody>
          <a:bodyPr/>
          <a:lstStyle/>
          <a:p>
            <a:r>
              <a:rPr lang="en-US" sz="2400" b="0" i="0"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 Database Is An Organized Collection Of Data, Typically Stored In A Digital Format, That Is Structured And Managed To Enable Efficient Storage, Retrieval, And Manipulation Of Information. </a:t>
            </a:r>
          </a:p>
          <a:p>
            <a:endParaRPr lang="en-US" sz="2400" cap="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2400" b="0" i="0"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Databases Come In Various Forms And Serve Different Purposes, Ranging From Personal Contacts And Library Catalogs To Enterprise-level Systems Handling Complex Financial Transactions.</a:t>
            </a:r>
          </a:p>
          <a:p>
            <a:endParaRPr lang="en-US" cap="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IN" cap="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92151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45D13-0CDC-4C16-9D1B-CCCAF5D1F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E7288-3136-A181-031D-B119A315AAFA}"/>
              </a:ext>
            </a:extLst>
          </p:cNvPr>
          <p:cNvSpPr>
            <a:spLocks noGrp="1"/>
          </p:cNvSpPr>
          <p:nvPr>
            <p:ph type="ctrTitle"/>
          </p:nvPr>
        </p:nvSpPr>
        <p:spPr>
          <a:xfrm>
            <a:off x="849086" y="326571"/>
            <a:ext cx="9818914" cy="697998"/>
          </a:xfrm>
        </p:spPr>
        <p:txBody>
          <a:bodyPr/>
          <a:lstStyle/>
          <a:p>
            <a:r>
              <a:rPr lang="en-US" sz="3200" dirty="0"/>
              <a:t>What are Different Types of Databases?</a:t>
            </a:r>
          </a:p>
        </p:txBody>
      </p:sp>
      <p:sp>
        <p:nvSpPr>
          <p:cNvPr id="3" name="Subtitle 2">
            <a:extLst>
              <a:ext uri="{FF2B5EF4-FFF2-40B4-BE49-F238E27FC236}">
                <a16:creationId xmlns:a16="http://schemas.microsoft.com/office/drawing/2014/main" id="{76EFD3D0-352B-D02A-CBC4-CDB05110E3FF}"/>
              </a:ext>
            </a:extLst>
          </p:cNvPr>
          <p:cNvSpPr>
            <a:spLocks noGrp="1"/>
          </p:cNvSpPr>
          <p:nvPr>
            <p:ph type="subTitle" idx="1"/>
          </p:nvPr>
        </p:nvSpPr>
        <p:spPr>
          <a:xfrm>
            <a:off x="566057" y="1134737"/>
            <a:ext cx="10340642" cy="5288097"/>
          </a:xfrm>
        </p:spPr>
        <p:txBody>
          <a:bodyPr>
            <a:normAutofit/>
          </a:bodyPr>
          <a:lstStyle/>
          <a:p>
            <a:pPr algn="l" fontAlgn="base"/>
            <a:r>
              <a:rPr lang="en-US" sz="2200" b="0" i="0"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In The World Of Data Management, Various Database Types Serve Specific Purposes Based On Their Structural And Operational Characteristics. These Databases Come In Different Forms To Accommodate Diverse Data Needs. Here Are Some Common Database Types:</a:t>
            </a:r>
          </a:p>
          <a:p>
            <a:pPr algn="l" fontAlgn="base"/>
            <a:r>
              <a:rPr lang="en-US" sz="2200" b="1" i="0" cap="none"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Relational Databases</a:t>
            </a:r>
            <a:endParaRPr lang="en-US" sz="2200" b="0" i="0" cap="none" dirty="0">
              <a:solidFill>
                <a:srgbClr val="FFFF0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200" b="0" i="0"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This Is The Most Common Type Of Database, Organized Around Tables That Contain Rows And Columns. Each Row Represents A Record, While Each Column Represents A Field Of Data. Examples Of Relational Databases Include MYSQL, </a:t>
            </a:r>
            <a:r>
              <a:rPr lang="en-US" sz="2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POSTGRESQL</a:t>
            </a:r>
            <a:r>
              <a:rPr lang="en-US" sz="2200" b="0" i="0"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And Microsoft SQL Server.</a:t>
            </a:r>
          </a:p>
          <a:p>
            <a:pPr algn="l" fontAlgn="base"/>
            <a:r>
              <a:rPr lang="en-US" sz="2200" b="1" i="0" cap="none" dirty="0" err="1">
                <a:solidFill>
                  <a:srgbClr val="FFFF00"/>
                </a:solidFill>
                <a:effectLst/>
                <a:latin typeface="Calibri" panose="020F0502020204030204" pitchFamily="34" charset="0"/>
                <a:ea typeface="Calibri" panose="020F0502020204030204" pitchFamily="34" charset="0"/>
                <a:cs typeface="Calibri" panose="020F0502020204030204" pitchFamily="34" charset="0"/>
              </a:rPr>
              <a:t>Nosql</a:t>
            </a:r>
            <a:r>
              <a:rPr lang="en-US" sz="2200" b="1" i="0" cap="none"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 Databases</a:t>
            </a:r>
            <a:endParaRPr lang="en-US" sz="2200" b="0" i="0" cap="none" dirty="0">
              <a:solidFill>
                <a:srgbClr val="FFFF0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200" b="0" i="0"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These Databases Cater To Non-tabular And Unstructured Data Types. They Are Highly Scalable And Can Handle Vast Amounts Of Data In Different Formats. Examples Include </a:t>
            </a:r>
            <a:r>
              <a:rPr lang="en-US" sz="2200" b="0" i="0" cap="none"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Mongodb</a:t>
            </a:r>
            <a:r>
              <a:rPr lang="en-US" sz="2200" b="0" i="0"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(Document-based), Cassandra (Column-based), And Redis (Key-value Store).</a:t>
            </a:r>
          </a:p>
          <a:p>
            <a:endParaRPr lang="en-US" cap="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IN" cap="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0702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F6EC0-9D2C-FA0C-120F-7D9F4B685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0DC26-C311-E330-C9C7-182B662CD31B}"/>
              </a:ext>
            </a:extLst>
          </p:cNvPr>
          <p:cNvSpPr>
            <a:spLocks noGrp="1"/>
          </p:cNvSpPr>
          <p:nvPr>
            <p:ph type="ctrTitle"/>
          </p:nvPr>
        </p:nvSpPr>
        <p:spPr>
          <a:xfrm>
            <a:off x="849086" y="326571"/>
            <a:ext cx="9818914" cy="697998"/>
          </a:xfrm>
        </p:spPr>
        <p:txBody>
          <a:bodyPr/>
          <a:lstStyle/>
          <a:p>
            <a:r>
              <a:rPr lang="en-US" sz="3200" dirty="0"/>
              <a:t>Components of a Database</a:t>
            </a:r>
          </a:p>
        </p:txBody>
      </p:sp>
      <p:sp>
        <p:nvSpPr>
          <p:cNvPr id="3" name="Subtitle 2">
            <a:extLst>
              <a:ext uri="{FF2B5EF4-FFF2-40B4-BE49-F238E27FC236}">
                <a16:creationId xmlns:a16="http://schemas.microsoft.com/office/drawing/2014/main" id="{67ADB7DB-88E3-A901-B6E2-48E2CC8F1F6C}"/>
              </a:ext>
            </a:extLst>
          </p:cNvPr>
          <p:cNvSpPr>
            <a:spLocks noGrp="1"/>
          </p:cNvSpPr>
          <p:nvPr>
            <p:ph type="subTitle" idx="1"/>
          </p:nvPr>
        </p:nvSpPr>
        <p:spPr>
          <a:xfrm>
            <a:off x="566057" y="1134737"/>
            <a:ext cx="10340642" cy="5288097"/>
          </a:xfrm>
        </p:spPr>
        <p:txBody>
          <a:bodyPr>
            <a:normAutofit lnSpcReduction="10000"/>
          </a:bodyPr>
          <a:lstStyle/>
          <a:p>
            <a:endParaRPr lang="en-US" cap="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l" fontAlgn="base">
              <a:buFont typeface="Arial" panose="020B0604020202020204" pitchFamily="34" charset="0"/>
              <a:buChar char="•"/>
            </a:pPr>
            <a:r>
              <a:rPr lang="en-US" b="1" i="0"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Tables/Entities –</a:t>
            </a:r>
            <a:r>
              <a:rPr lang="en-US" b="0" i="0"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 </a:t>
            </a:r>
            <a:r>
              <a:rPr lang="en-US"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fundamental structure of a database, tables (also known as entities) are where data is stored. Each row within a table represents a single record, while columns define the attributes or fields of that record.</a:t>
            </a:r>
          </a:p>
          <a:p>
            <a:pPr algn="l" fontAlgn="base">
              <a:buFont typeface="Arial" panose="020B0604020202020204" pitchFamily="34" charset="0"/>
              <a:buChar char="•"/>
            </a:pPr>
            <a:r>
              <a:rPr lang="en-US" b="1" i="0"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Fields/Attributes –</a:t>
            </a:r>
            <a:r>
              <a:rPr lang="en-US" b="0" i="0"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 </a:t>
            </a:r>
            <a:r>
              <a:rPr lang="en-US"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Columns within a table represent fields or attributes. These define the characteristics of the data being stored, such as a person’s name, age, or address.</a:t>
            </a:r>
          </a:p>
          <a:p>
            <a:pPr algn="l" fontAlgn="base">
              <a:buFont typeface="Arial" panose="020B0604020202020204" pitchFamily="34" charset="0"/>
              <a:buChar char="•"/>
            </a:pPr>
            <a:r>
              <a:rPr lang="en-US" b="1" i="0"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Records –</a:t>
            </a:r>
            <a:r>
              <a:rPr lang="en-US" b="0" i="0"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 </a:t>
            </a:r>
            <a:r>
              <a:rPr lang="en-US"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Each row in a table represents a record, which is a collection of related data points. For example, in a customer database, each row might represent a unique customer.</a:t>
            </a:r>
          </a:p>
          <a:p>
            <a:pPr algn="l" fontAlgn="base">
              <a:buFont typeface="Arial" panose="020B0604020202020204" pitchFamily="34" charset="0"/>
              <a:buChar char="•"/>
            </a:pPr>
            <a:r>
              <a:rPr lang="en-US" b="1" i="0"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Keys –</a:t>
            </a:r>
            <a:r>
              <a:rPr lang="en-US" b="0" i="0"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 </a:t>
            </a:r>
            <a:r>
              <a:rPr lang="en-US"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Keys are crucial for organizing and linking data between different tables. The primary key uniquely identifies each record in a table, while foreign keys establish relationships between tables.</a:t>
            </a:r>
          </a:p>
          <a:p>
            <a:pPr algn="l" fontAlgn="base">
              <a:buFont typeface="Arial" panose="020B0604020202020204" pitchFamily="34" charset="0"/>
              <a:buChar char="•"/>
            </a:pPr>
            <a:r>
              <a:rPr lang="en-US" b="1" i="0"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Queries –</a:t>
            </a:r>
            <a:r>
              <a:rPr lang="en-US"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Queries are used to retrieve specific data from a database. They allow users to filter, sort, and analyze information according to their needs.</a:t>
            </a:r>
          </a:p>
          <a:p>
            <a:endParaRPr lang="en-IN" cap="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1103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9B0B5-AB92-3E4C-DB28-8A80254C5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967CC-97A9-157D-14FD-0E58BD482D3B}"/>
              </a:ext>
            </a:extLst>
          </p:cNvPr>
          <p:cNvSpPr>
            <a:spLocks noGrp="1"/>
          </p:cNvSpPr>
          <p:nvPr>
            <p:ph type="ctrTitle"/>
          </p:nvPr>
        </p:nvSpPr>
        <p:spPr>
          <a:xfrm>
            <a:off x="849086" y="326571"/>
            <a:ext cx="9818914" cy="697998"/>
          </a:xfrm>
        </p:spPr>
        <p:txBody>
          <a:bodyPr/>
          <a:lstStyle/>
          <a:p>
            <a:r>
              <a:rPr lang="en-US" sz="4800" dirty="0"/>
              <a:t>What is SQL</a:t>
            </a:r>
          </a:p>
        </p:txBody>
      </p:sp>
      <p:sp>
        <p:nvSpPr>
          <p:cNvPr id="3" name="Subtitle 2">
            <a:extLst>
              <a:ext uri="{FF2B5EF4-FFF2-40B4-BE49-F238E27FC236}">
                <a16:creationId xmlns:a16="http://schemas.microsoft.com/office/drawing/2014/main" id="{39BA9F96-7964-7179-A5D7-6959F6CE8D62}"/>
              </a:ext>
            </a:extLst>
          </p:cNvPr>
          <p:cNvSpPr>
            <a:spLocks noGrp="1"/>
          </p:cNvSpPr>
          <p:nvPr>
            <p:ph type="subTitle" idx="1"/>
          </p:nvPr>
        </p:nvSpPr>
        <p:spPr>
          <a:xfrm>
            <a:off x="566057" y="1134737"/>
            <a:ext cx="10340642" cy="5288097"/>
          </a:xfrm>
        </p:spPr>
        <p:txBody>
          <a:bodyPr>
            <a:normAutofit/>
          </a:bodyPr>
          <a:lstStyle/>
          <a:p>
            <a:endParaRPr lang="en-US" sz="2400" cap="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2400" cap="none" dirty="0">
                <a:solidFill>
                  <a:schemeClr val="tx1"/>
                </a:solidFill>
                <a:latin typeface="Calibri" panose="020F0502020204030204" pitchFamily="34" charset="0"/>
                <a:ea typeface="Calibri" panose="020F0502020204030204" pitchFamily="34" charset="0"/>
                <a:cs typeface="Calibri" panose="020F0502020204030204" pitchFamily="34" charset="0"/>
              </a:rPr>
              <a:t>SQL, or </a:t>
            </a:r>
            <a:r>
              <a:rPr lang="en-US" sz="2400" b="1" cap="none" dirty="0">
                <a:solidFill>
                  <a:schemeClr val="tx1"/>
                </a:solidFill>
                <a:latin typeface="Calibri" panose="020F0502020204030204" pitchFamily="34" charset="0"/>
                <a:ea typeface="Calibri" panose="020F0502020204030204" pitchFamily="34" charset="0"/>
                <a:cs typeface="Calibri" panose="020F0502020204030204" pitchFamily="34" charset="0"/>
              </a:rPr>
              <a:t>structured query language</a:t>
            </a:r>
            <a:r>
              <a:rPr lang="en-US" sz="2400" cap="none" dirty="0">
                <a:solidFill>
                  <a:schemeClr val="tx1"/>
                </a:solidFill>
                <a:latin typeface="Calibri" panose="020F0502020204030204" pitchFamily="34" charset="0"/>
                <a:ea typeface="Calibri" panose="020F0502020204030204" pitchFamily="34" charset="0"/>
                <a:cs typeface="Calibri" panose="020F0502020204030204" pitchFamily="34" charset="0"/>
              </a:rPr>
              <a:t>, is a programming language used to manage and manipulate relational databases. it enables users to retrieve, insert, update, and delete data stored in a structured format within database systems. </a:t>
            </a:r>
          </a:p>
          <a:p>
            <a:r>
              <a:rPr lang="en-US" sz="2400" cap="none" dirty="0">
                <a:solidFill>
                  <a:schemeClr val="tx1"/>
                </a:solidFill>
                <a:latin typeface="Calibri" panose="020F0502020204030204" pitchFamily="34" charset="0"/>
                <a:ea typeface="Calibri" panose="020F0502020204030204" pitchFamily="34" charset="0"/>
                <a:cs typeface="Calibri" panose="020F0502020204030204" pitchFamily="34" charset="0"/>
              </a:rPr>
              <a:t>SQL is essential in many areas of data management, including data engineering, analytics, and database administration, as it’s crucial for handling structured data in systems like MySQL, SQL Server, PostgreSQL, and </a:t>
            </a:r>
            <a:r>
              <a:rPr lang="en-US" sz="2400" cap="none">
                <a:solidFill>
                  <a:schemeClr val="tx1"/>
                </a:solidFill>
                <a:latin typeface="Calibri" panose="020F0502020204030204" pitchFamily="34" charset="0"/>
                <a:ea typeface="Calibri" panose="020F0502020204030204" pitchFamily="34" charset="0"/>
                <a:cs typeface="Calibri" panose="020F0502020204030204" pitchFamily="34" charset="0"/>
              </a:rPr>
              <a:t>Oracle.</a:t>
            </a:r>
            <a:endParaRPr lang="en-US" sz="2400" cap="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2400" cap="none" dirty="0">
                <a:solidFill>
                  <a:schemeClr val="tx1"/>
                </a:solidFill>
                <a:latin typeface="Calibri" panose="020F0502020204030204" pitchFamily="34" charset="0"/>
                <a:ea typeface="Calibri" panose="020F0502020204030204" pitchFamily="34" charset="0"/>
                <a:cs typeface="Calibri" panose="020F0502020204030204" pitchFamily="34" charset="0"/>
              </a:rPr>
              <a:t>SQL is widely used in data analytics, allowing for complex querying and data analysis tasks.</a:t>
            </a:r>
            <a:endParaRPr lang="en-IN" sz="2400" cap="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19005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802</TotalTime>
  <Words>484</Words>
  <Application>Microsoft Office PowerPoint</Application>
  <PresentationFormat>Widescreen</PresentationFormat>
  <Paragraphs>23</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Century Gothic</vt:lpstr>
      <vt:lpstr>Wingdings 3</vt:lpstr>
      <vt:lpstr>Ion</vt:lpstr>
      <vt:lpstr>Database </vt:lpstr>
      <vt:lpstr>What is a Database </vt:lpstr>
      <vt:lpstr>What are Different Types of Databases?</vt:lpstr>
      <vt:lpstr>Components of a Database</vt:lpstr>
      <vt:lpstr>What is SQL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 Bansal</dc:creator>
  <cp:lastModifiedBy>Ankit Bansal</cp:lastModifiedBy>
  <cp:revision>5</cp:revision>
  <dcterms:created xsi:type="dcterms:W3CDTF">2024-11-04T10:35:56Z</dcterms:created>
  <dcterms:modified xsi:type="dcterms:W3CDTF">2024-11-05T04:14:48Z</dcterms:modified>
</cp:coreProperties>
</file>